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1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6CDF71-8586-9E5A-A13B-F96DDBF6BC65}" v="87" dt="2026-02-21T01:10:57.954"/>
    <p1510:client id="{31532C9A-D7ED-EDB4-E23F-8D52A5288D9E}" v="59" dt="2026-02-21T00:49:46.146"/>
    <p1510:client id="{898C9BDF-52C7-C486-A8A4-24D4C552FBDA}" v="49" dt="2026-02-21T01:22:51.972"/>
    <p1510:client id="{A3480B12-E780-45FA-4EEF-EB1FE429A056}" v="28" dt="2026-02-21T01:23:26.238"/>
    <p1510:client id="{AFC2E85D-8092-9BF1-AC2E-D7FE780FB270}" v="65" dt="2026-02-21T00:49:51.428"/>
    <p1510:client id="{EBF030D5-7989-95DE-AFC2-66FE7743FF6E}" v="44" dt="2026-02-21T01:08:40.108"/>
    <p1510:client id="{F3244057-8BC3-9782-E03E-968F2FA1F142}" v="433" dt="2026-02-21T01:23:36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rgbClr val="D4D4D4"/>
                </a:solidFill>
                <a:highlight>
                  <a:srgbClr val="191919"/>
                </a:highlight>
                <a:latin typeface="Inter"/>
              </a:rPr>
              <a:t>Методическое</a:t>
            </a:r>
            <a:r>
              <a:rPr lang="en-US" sz="1100">
                <a:solidFill>
                  <a:srgbClr val="D4D4D4"/>
                </a:solidFill>
                <a:highlight>
                  <a:srgbClr val="191919"/>
                </a:highlight>
                <a:latin typeface="Inter"/>
              </a:rPr>
              <a:t> </a:t>
            </a:r>
            <a:r>
              <a:rPr lang="en-US" sz="1100" err="1">
                <a:solidFill>
                  <a:srgbClr val="D4D4D4"/>
                </a:solidFill>
                <a:highlight>
                  <a:srgbClr val="191919"/>
                </a:highlight>
                <a:latin typeface="Inter"/>
              </a:rPr>
              <a:t>пособие</a:t>
            </a:r>
            <a:r>
              <a:rPr lang="en-US" sz="1100">
                <a:solidFill>
                  <a:srgbClr val="D4D4D4"/>
                </a:solidFill>
                <a:highlight>
                  <a:srgbClr val="191919"/>
                </a:highlight>
                <a:latin typeface="Inter"/>
              </a:rPr>
              <a:t> </a:t>
            </a:r>
            <a:r>
              <a:rPr lang="en-US" sz="1100" err="1">
                <a:solidFill>
                  <a:srgbClr val="D4D4D4"/>
                </a:solidFill>
                <a:highlight>
                  <a:srgbClr val="191919"/>
                </a:highlight>
                <a:latin typeface="Inter"/>
              </a:rPr>
              <a:t>по</a:t>
            </a:r>
            <a:r>
              <a:rPr lang="en-US" sz="1100">
                <a:solidFill>
                  <a:srgbClr val="D4D4D4"/>
                </a:solidFill>
                <a:highlight>
                  <a:srgbClr val="191919"/>
                </a:highlight>
                <a:latin typeface="Inter"/>
              </a:rPr>
              <a:t> </a:t>
            </a:r>
            <a:r>
              <a:rPr lang="en-US" sz="1100" err="1">
                <a:solidFill>
                  <a:srgbClr val="D4D4D4"/>
                </a:solidFill>
                <a:highlight>
                  <a:srgbClr val="191919"/>
                </a:highlight>
                <a:latin typeface="Inter"/>
              </a:rPr>
              <a:t>созданию</a:t>
            </a:r>
            <a:r>
              <a:rPr lang="en-US" sz="1100">
                <a:solidFill>
                  <a:srgbClr val="D4D4D4"/>
                </a:solidFill>
                <a:highlight>
                  <a:srgbClr val="191919"/>
                </a:highlight>
                <a:latin typeface="Inter"/>
              </a:rPr>
              <a:t> </a:t>
            </a:r>
            <a:r>
              <a:rPr lang="en-US" sz="1100" err="1">
                <a:solidFill>
                  <a:srgbClr val="D4D4D4"/>
                </a:solidFill>
                <a:highlight>
                  <a:srgbClr val="191919"/>
                </a:highlight>
                <a:latin typeface="Inter"/>
              </a:rPr>
              <a:t>игр</a:t>
            </a:r>
            <a:r>
              <a:rPr lang="en-US" sz="1100">
                <a:solidFill>
                  <a:srgbClr val="D4D4D4"/>
                </a:solidFill>
                <a:highlight>
                  <a:srgbClr val="191919"/>
                </a:highlight>
                <a:latin typeface="Inter"/>
              </a:rPr>
              <a:t> </a:t>
            </a:r>
            <a:r>
              <a:rPr lang="en-US" sz="1100" err="1">
                <a:solidFill>
                  <a:srgbClr val="D4D4D4"/>
                </a:solidFill>
                <a:highlight>
                  <a:srgbClr val="191919"/>
                </a:highlight>
                <a:latin typeface="Inter"/>
              </a:rPr>
              <a:t>на</a:t>
            </a:r>
            <a:r>
              <a:rPr lang="en-US" sz="1100">
                <a:solidFill>
                  <a:srgbClr val="D4D4D4"/>
                </a:solidFill>
                <a:highlight>
                  <a:srgbClr val="191919"/>
                </a:highlight>
                <a:latin typeface="Inter"/>
              </a:rPr>
              <a:t> Unity.</a:t>
            </a:r>
            <a:endParaRPr lang="ru-R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84951" y="4537601"/>
            <a:ext cx="10005951" cy="1862209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endParaRPr lang="ru-RU" dirty="0">
              <a:latin typeface="Aptos"/>
              <a:cs typeface="Times New Roman"/>
            </a:endParaRPr>
          </a:p>
          <a:p>
            <a:pPr algn="l"/>
            <a:r>
              <a:rPr lang="ru-RU" b="1" dirty="0">
                <a:latin typeface="Aptos"/>
                <a:cs typeface="Times New Roman"/>
              </a:rPr>
              <a:t>Для кого:</a:t>
            </a:r>
            <a:endParaRPr lang="ru-RU" dirty="0">
              <a:latin typeface="Aptos"/>
              <a:cs typeface="Times New Roman"/>
            </a:endParaRPr>
          </a:p>
          <a:p>
            <a:pPr lvl="1" algn="l"/>
            <a:r>
              <a:rPr lang="ru-RU" sz="2400" dirty="0">
                <a:latin typeface="Aptos"/>
                <a:cs typeface="Times New Roman"/>
              </a:rPr>
              <a:t>Начинающие разработчики (с нуля).</a:t>
            </a:r>
          </a:p>
          <a:p>
            <a:pPr lvl="1" algn="l"/>
            <a:r>
              <a:rPr lang="ru-RU" sz="2400" dirty="0">
                <a:latin typeface="Aptos"/>
                <a:cs typeface="Times New Roman"/>
              </a:rPr>
              <a:t>Студенты и школьники профильных направлений.</a:t>
            </a:r>
          </a:p>
          <a:p>
            <a:pPr lvl="1" algn="l"/>
            <a:r>
              <a:rPr lang="ru-RU" sz="2400" dirty="0">
                <a:latin typeface="Aptos"/>
                <a:cs typeface="Times New Roman"/>
              </a:rPr>
              <a:t>Преподаватели ИТ-кружков (как готовая программа).</a:t>
            </a:r>
          </a:p>
          <a:p>
            <a:pPr lvl="1" algn="l"/>
            <a:r>
              <a:rPr lang="ru-RU" sz="2400" dirty="0">
                <a:latin typeface="Aptos"/>
                <a:cs typeface="Times New Roman"/>
              </a:rPr>
              <a:t>Энтузиасты, мечтающие создать свою первую игру.</a:t>
            </a:r>
            <a:endParaRPr lang="ru-RU" sz="2400" dirty="0">
              <a:latin typeface="Aptos"/>
            </a:endParaRPr>
          </a:p>
          <a:p>
            <a:pPr algn="l">
              <a:spcBef>
                <a:spcPct val="0"/>
              </a:spcBef>
            </a:pPr>
            <a:endParaRPr lang="ru-RU" sz="1800" b="1">
              <a:latin typeface="Times New Roman"/>
              <a:cs typeface="Times New Roman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E6319C1-F772-E6D8-EB39-A4B30EFCDF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30" b="-952"/>
          <a:stretch>
            <a:fillRect/>
          </a:stretch>
        </p:blipFill>
        <p:spPr>
          <a:xfrm>
            <a:off x="884957" y="1100681"/>
            <a:ext cx="3530181" cy="123031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238E4A-AE11-0BF2-3895-9C462E59831A}"/>
              </a:ext>
            </a:extLst>
          </p:cNvPr>
          <p:cNvSpPr txBox="1"/>
          <p:nvPr/>
        </p:nvSpPr>
        <p:spPr>
          <a:xfrm>
            <a:off x="798874" y="2520483"/>
            <a:ext cx="7212284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3200">
                <a:solidFill>
                  <a:schemeClr val="bg1"/>
                </a:solidFill>
                <a:latin typeface="Comic Sans MS"/>
                <a:cs typeface="Times New Roman"/>
              </a:rPr>
              <a:t>Учебное пособие по игровому движку </a:t>
            </a:r>
            <a:r>
              <a:rPr lang="ru-RU" sz="3200" err="1">
                <a:solidFill>
                  <a:schemeClr val="bg1"/>
                </a:solidFill>
                <a:latin typeface="Comic Sans MS"/>
                <a:cs typeface="Times New Roman"/>
              </a:rPr>
              <a:t>Unity</a:t>
            </a:r>
            <a:endParaRPr lang="ru-RU" sz="3200">
              <a:solidFill>
                <a:schemeClr val="bg1"/>
              </a:solidFill>
              <a:latin typeface="Comic Sans MS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7B9B4F-9618-A5DF-844E-B5B7AC053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A652B352-63BB-24FA-3264-5E98E7823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527" y="2035252"/>
            <a:ext cx="10936841" cy="465262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ru-RU" err="1">
                <a:ea typeface="+mn-lt"/>
                <a:cs typeface="+mn-lt"/>
              </a:rPr>
              <a:t>Unity</a:t>
            </a:r>
            <a:r>
              <a:rPr lang="ru-RU">
                <a:ea typeface="+mn-lt"/>
                <a:cs typeface="+mn-lt"/>
              </a:rPr>
              <a:t> — кроссплатформенная среда разработки компьютерных игр. </a:t>
            </a:r>
            <a:r>
              <a:rPr lang="ru-RU" err="1">
                <a:ea typeface="+mn-lt"/>
                <a:cs typeface="+mn-lt"/>
              </a:rPr>
              <a:t>Unity</a:t>
            </a:r>
            <a:r>
              <a:rPr lang="ru-RU">
                <a:ea typeface="+mn-lt"/>
                <a:cs typeface="+mn-lt"/>
              </a:rPr>
              <a:t> позволяет создавать приложения, работающие на более чем 25 различных платформах, включающих персональные компьютеры, игровые консоли, мобильные устройства, интернет-приложения и другие. Выпуск </a:t>
            </a:r>
            <a:r>
              <a:rPr lang="ru-RU" err="1">
                <a:ea typeface="+mn-lt"/>
                <a:cs typeface="+mn-lt"/>
              </a:rPr>
              <a:t>Unity</a:t>
            </a:r>
            <a:r>
              <a:rPr lang="ru-RU">
                <a:ea typeface="+mn-lt"/>
                <a:cs typeface="+mn-lt"/>
              </a:rPr>
              <a:t> состоялся в 2005 году и с того времени идёт постоянное развитие.</a:t>
            </a:r>
          </a:p>
          <a:p>
            <a:pPr algn="l"/>
            <a:endParaRPr lang="ru-RU"/>
          </a:p>
          <a:p>
            <a:pPr algn="l"/>
            <a:r>
              <a:rPr lang="ru-RU">
                <a:ea typeface="+mn-lt"/>
                <a:cs typeface="+mn-lt"/>
              </a:rPr>
              <a:t>Основными преимуществами </a:t>
            </a:r>
            <a:r>
              <a:rPr lang="ru-RU" err="1">
                <a:ea typeface="+mn-lt"/>
                <a:cs typeface="+mn-lt"/>
              </a:rPr>
              <a:t>Unity</a:t>
            </a:r>
            <a:r>
              <a:rPr lang="ru-RU">
                <a:ea typeface="+mn-lt"/>
                <a:cs typeface="+mn-lt"/>
              </a:rPr>
              <a:t> являются наличие визуальной среды разработки, межплатформенной поддержки и модульной системы компонентов. К недостаткам относят появление сложностей при работе с многокомпонентными схемами и затруднения при подключении внешних библиотек.</a:t>
            </a:r>
          </a:p>
          <a:p>
            <a:pPr algn="l"/>
            <a:endParaRPr lang="ru-RU"/>
          </a:p>
          <a:p>
            <a:pPr algn="l"/>
            <a:r>
              <a:rPr lang="ru-RU">
                <a:ea typeface="+mn-lt"/>
                <a:cs typeface="+mn-lt"/>
              </a:rPr>
              <a:t>На </a:t>
            </a:r>
            <a:r>
              <a:rPr lang="ru-RU" err="1">
                <a:ea typeface="+mn-lt"/>
                <a:cs typeface="+mn-lt"/>
              </a:rPr>
              <a:t>Unity</a:t>
            </a:r>
            <a:r>
              <a:rPr lang="ru-RU">
                <a:ea typeface="+mn-lt"/>
                <a:cs typeface="+mn-lt"/>
              </a:rPr>
              <a:t> написаны множество игр, приложений, визуализации математических моделей, которые охватывают множество платформ и жанров. При этом </a:t>
            </a:r>
            <a:r>
              <a:rPr lang="ru-RU" err="1">
                <a:ea typeface="+mn-lt"/>
                <a:cs typeface="+mn-lt"/>
              </a:rPr>
              <a:t>Unity</a:t>
            </a:r>
            <a:r>
              <a:rPr lang="ru-RU">
                <a:ea typeface="+mn-lt"/>
                <a:cs typeface="+mn-lt"/>
              </a:rPr>
              <a:t> используется как крупными разработчиками, так и независимыми студиями.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5BB5F205-35E3-D53A-3A2A-9652F36837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4099" y="-1051211"/>
            <a:ext cx="9144000" cy="2387600"/>
          </a:xfrm>
        </p:spPr>
        <p:txBody>
          <a:bodyPr/>
          <a:lstStyle/>
          <a:p>
            <a:r>
              <a:rPr lang="ru-RU">
                <a:solidFill>
                  <a:srgbClr val="FFFFFF"/>
                </a:solidFill>
                <a:latin typeface="Comic Sans MS"/>
              </a:rPr>
              <a:t>Что такое </a:t>
            </a:r>
            <a:r>
              <a:rPr lang="ru-RU" err="1">
                <a:solidFill>
                  <a:srgbClr val="FFFFFF"/>
                </a:solidFill>
                <a:latin typeface="Comic Sans MS"/>
              </a:rPr>
              <a:t>Unity</a:t>
            </a:r>
            <a:r>
              <a:rPr lang="ru-RU">
                <a:solidFill>
                  <a:srgbClr val="FFFFFF"/>
                </a:solidFill>
                <a:latin typeface="Comic Sans M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91588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B69D54-E646-8355-FED5-2246A8441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0D2B49-CC35-65A1-5A40-B700DA091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294" y="562811"/>
            <a:ext cx="9888496" cy="9001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400" err="1">
                <a:solidFill>
                  <a:schemeClr val="bg1"/>
                </a:solidFill>
                <a:latin typeface="Comic Sans MS"/>
                <a:cs typeface="Times New Roman"/>
              </a:rPr>
              <a:t>Что</a:t>
            </a:r>
            <a:r>
              <a:rPr lang="en-US" sz="4400" dirty="0">
                <a:solidFill>
                  <a:schemeClr val="bg1"/>
                </a:solidFill>
                <a:latin typeface="Comic Sans MS"/>
                <a:cs typeface="Times New Roman"/>
              </a:rPr>
              <a:t> </a:t>
            </a:r>
            <a:r>
              <a:rPr lang="en-US" sz="4400" err="1">
                <a:solidFill>
                  <a:schemeClr val="bg1"/>
                </a:solidFill>
                <a:latin typeface="Comic Sans MS"/>
                <a:cs typeface="Times New Roman"/>
              </a:rPr>
              <a:t>мы</a:t>
            </a:r>
            <a:r>
              <a:rPr lang="en-US" sz="4400" dirty="0">
                <a:solidFill>
                  <a:schemeClr val="bg1"/>
                </a:solidFill>
                <a:latin typeface="Comic Sans MS"/>
                <a:cs typeface="Times New Roman"/>
              </a:rPr>
              <a:t> </a:t>
            </a:r>
            <a:r>
              <a:rPr lang="en-US" sz="4400" err="1">
                <a:solidFill>
                  <a:schemeClr val="bg1"/>
                </a:solidFill>
                <a:latin typeface="Comic Sans MS"/>
                <a:cs typeface="Times New Roman"/>
              </a:rPr>
              <a:t>делаем</a:t>
            </a:r>
            <a:r>
              <a:rPr lang="en-US" sz="4400" dirty="0">
                <a:solidFill>
                  <a:schemeClr val="bg1"/>
                </a:solidFill>
                <a:latin typeface="Comic Sans MS"/>
                <a:cs typeface="Times New Roman"/>
              </a:rPr>
              <a:t>?</a:t>
            </a:r>
            <a:endParaRPr lang="en-US" sz="4400" kern="1200" dirty="0">
              <a:solidFill>
                <a:schemeClr val="bg1"/>
              </a:solidFill>
              <a:latin typeface="Comic Sans MS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 descr="Изображение выглядит как графический дизайн, Графика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E843A44-8770-301C-B9D5-FD2A5F87D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06205"/>
            <a:ext cx="12192000" cy="2955854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FCDE01-C188-548F-DCFE-C1330E041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344" y="1466807"/>
            <a:ext cx="8502038" cy="39299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28600" algn="l">
              <a:buChar char="•"/>
            </a:pPr>
            <a:r>
              <a:rPr lang="en-US" dirty="0" err="1">
                <a:latin typeface="Aptos"/>
                <a:cs typeface="Times New Roman"/>
              </a:rPr>
              <a:t>Не</a:t>
            </a:r>
            <a:r>
              <a:rPr lang="en-US" dirty="0">
                <a:latin typeface="Aptos"/>
                <a:cs typeface="Times New Roman"/>
              </a:rPr>
              <a:t> </a:t>
            </a:r>
            <a:r>
              <a:rPr lang="en-US" dirty="0" err="1">
                <a:latin typeface="Aptos"/>
                <a:cs typeface="Times New Roman"/>
              </a:rPr>
              <a:t>просто</a:t>
            </a:r>
            <a:r>
              <a:rPr lang="en-US" dirty="0">
                <a:latin typeface="Aptos"/>
                <a:cs typeface="Times New Roman"/>
              </a:rPr>
              <a:t> </a:t>
            </a:r>
            <a:r>
              <a:rPr lang="en-US" dirty="0" err="1">
                <a:latin typeface="Aptos"/>
                <a:cs typeface="Times New Roman"/>
              </a:rPr>
              <a:t>учебник</a:t>
            </a:r>
            <a:r>
              <a:rPr lang="en-US" dirty="0">
                <a:latin typeface="Aptos"/>
                <a:cs typeface="Times New Roman"/>
              </a:rPr>
              <a:t>, а </a:t>
            </a:r>
            <a:r>
              <a:rPr lang="en-US" dirty="0" err="1">
                <a:latin typeface="Aptos"/>
                <a:cs typeface="Times New Roman"/>
              </a:rPr>
              <a:t>пошаговая</a:t>
            </a:r>
            <a:r>
              <a:rPr lang="en-US" dirty="0">
                <a:latin typeface="Aptos"/>
                <a:cs typeface="Times New Roman"/>
              </a:rPr>
              <a:t> </a:t>
            </a:r>
            <a:r>
              <a:rPr lang="en-US" dirty="0" err="1">
                <a:latin typeface="Aptos"/>
                <a:cs typeface="Times New Roman"/>
              </a:rPr>
              <a:t>дорожная</a:t>
            </a:r>
            <a:r>
              <a:rPr lang="en-US" dirty="0">
                <a:latin typeface="Aptos"/>
                <a:cs typeface="Times New Roman"/>
              </a:rPr>
              <a:t> </a:t>
            </a:r>
            <a:r>
              <a:rPr lang="en-US" dirty="0" err="1">
                <a:latin typeface="Aptos"/>
                <a:cs typeface="Times New Roman"/>
              </a:rPr>
              <a:t>карта</a:t>
            </a:r>
            <a:r>
              <a:rPr lang="en-US" dirty="0">
                <a:latin typeface="Aptos"/>
                <a:cs typeface="Times New Roman"/>
              </a:rPr>
              <a:t>.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dirty="0" err="1">
                <a:latin typeface="Aptos"/>
                <a:cs typeface="Times New Roman"/>
              </a:rPr>
              <a:t>От</a:t>
            </a:r>
            <a:r>
              <a:rPr lang="en-US" dirty="0">
                <a:latin typeface="Aptos"/>
                <a:cs typeface="Times New Roman"/>
              </a:rPr>
              <a:t> </a:t>
            </a:r>
            <a:r>
              <a:rPr lang="en-US" dirty="0" err="1">
                <a:latin typeface="Aptos"/>
                <a:cs typeface="Times New Roman"/>
              </a:rPr>
              <a:t>установки</a:t>
            </a:r>
            <a:r>
              <a:rPr lang="en-US" dirty="0">
                <a:latin typeface="Aptos"/>
                <a:cs typeface="Times New Roman"/>
              </a:rPr>
              <a:t> </a:t>
            </a:r>
            <a:r>
              <a:rPr lang="en-US" dirty="0" err="1">
                <a:latin typeface="Aptos"/>
                <a:cs typeface="Times New Roman"/>
              </a:rPr>
              <a:t>программы</a:t>
            </a:r>
            <a:r>
              <a:rPr lang="en-US" dirty="0">
                <a:latin typeface="Aptos"/>
                <a:cs typeface="Times New Roman"/>
              </a:rPr>
              <a:t> </a:t>
            </a:r>
            <a:r>
              <a:rPr lang="en-US" dirty="0" err="1">
                <a:latin typeface="Aptos"/>
                <a:cs typeface="Times New Roman"/>
              </a:rPr>
              <a:t>до</a:t>
            </a:r>
            <a:r>
              <a:rPr lang="en-US" dirty="0">
                <a:latin typeface="Aptos"/>
                <a:cs typeface="Times New Roman"/>
              </a:rPr>
              <a:t> </a:t>
            </a:r>
            <a:r>
              <a:rPr lang="en-US" dirty="0" err="1">
                <a:latin typeface="Aptos"/>
                <a:cs typeface="Times New Roman"/>
              </a:rPr>
              <a:t>первого</a:t>
            </a:r>
            <a:r>
              <a:rPr lang="en-US" dirty="0">
                <a:latin typeface="Aptos"/>
                <a:cs typeface="Times New Roman"/>
              </a:rPr>
              <a:t> </a:t>
            </a:r>
            <a:r>
              <a:rPr lang="en-US" dirty="0" err="1">
                <a:latin typeface="Aptos"/>
                <a:cs typeface="Times New Roman"/>
              </a:rPr>
              <a:t>рабочего</a:t>
            </a:r>
            <a:r>
              <a:rPr lang="en-US" dirty="0">
                <a:latin typeface="Aptos"/>
                <a:cs typeface="Times New Roman"/>
              </a:rPr>
              <a:t> </a:t>
            </a:r>
            <a:r>
              <a:rPr lang="en-US" dirty="0" err="1">
                <a:latin typeface="Aptos"/>
                <a:cs typeface="Times New Roman"/>
              </a:rPr>
              <a:t>прототипа</a:t>
            </a:r>
            <a:r>
              <a:rPr lang="en-US" dirty="0">
                <a:latin typeface="Aptos"/>
                <a:cs typeface="Times New Roman"/>
              </a:rPr>
              <a:t>.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dirty="0" err="1">
                <a:latin typeface="Aptos"/>
                <a:cs typeface="Times New Roman"/>
              </a:rPr>
              <a:t>Понятная</a:t>
            </a:r>
            <a:r>
              <a:rPr lang="en-US" dirty="0">
                <a:latin typeface="Aptos"/>
                <a:cs typeface="Times New Roman"/>
              </a:rPr>
              <a:t> </a:t>
            </a:r>
            <a:r>
              <a:rPr lang="en-US" dirty="0" err="1">
                <a:latin typeface="Aptos"/>
                <a:cs typeface="Times New Roman"/>
              </a:rPr>
              <a:t>теория</a:t>
            </a:r>
            <a:r>
              <a:rPr lang="en-US" dirty="0">
                <a:latin typeface="Aptos"/>
                <a:cs typeface="Times New Roman"/>
              </a:rPr>
              <a:t> + </a:t>
            </a:r>
            <a:r>
              <a:rPr lang="en-US" dirty="0" err="1">
                <a:latin typeface="Aptos"/>
                <a:cs typeface="Times New Roman"/>
              </a:rPr>
              <a:t>много</a:t>
            </a:r>
            <a:r>
              <a:rPr lang="en-US" dirty="0">
                <a:latin typeface="Aptos"/>
                <a:cs typeface="Times New Roman"/>
              </a:rPr>
              <a:t> </a:t>
            </a:r>
            <a:r>
              <a:rPr lang="en-US" dirty="0" err="1">
                <a:latin typeface="Aptos"/>
                <a:cs typeface="Times New Roman"/>
              </a:rPr>
              <a:t>практики</a:t>
            </a:r>
            <a:r>
              <a:rPr lang="en-US" dirty="0">
                <a:latin typeface="Aptos"/>
                <a:cs typeface="Times New Roman"/>
              </a:rPr>
              <a:t>.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dirty="0" err="1">
                <a:latin typeface="Aptos"/>
                <a:cs typeface="Times New Roman"/>
              </a:rPr>
              <a:t>Упаковываем</a:t>
            </a:r>
            <a:r>
              <a:rPr lang="en-US" dirty="0">
                <a:latin typeface="Aptos"/>
                <a:cs typeface="Times New Roman"/>
              </a:rPr>
              <a:t> </a:t>
            </a:r>
            <a:r>
              <a:rPr lang="en-US" dirty="0" err="1">
                <a:latin typeface="Aptos"/>
                <a:cs typeface="Times New Roman"/>
              </a:rPr>
              <a:t>сложный</a:t>
            </a:r>
            <a:r>
              <a:rPr lang="en-US" dirty="0">
                <a:latin typeface="Aptos"/>
                <a:cs typeface="Times New Roman"/>
              </a:rPr>
              <a:t> </a:t>
            </a:r>
            <a:r>
              <a:rPr lang="en-US" dirty="0" err="1">
                <a:latin typeface="Aptos"/>
                <a:cs typeface="Times New Roman"/>
              </a:rPr>
              <a:t>геймдев</a:t>
            </a:r>
            <a:r>
              <a:rPr lang="en-US" dirty="0">
                <a:latin typeface="Aptos"/>
                <a:cs typeface="Times New Roman"/>
              </a:rPr>
              <a:t> в </a:t>
            </a:r>
            <a:r>
              <a:rPr lang="en-US" dirty="0" err="1">
                <a:latin typeface="Aptos"/>
                <a:cs typeface="Times New Roman"/>
              </a:rPr>
              <a:t>простой</a:t>
            </a:r>
            <a:r>
              <a:rPr lang="en-US" dirty="0">
                <a:latin typeface="Aptos"/>
                <a:cs typeface="Times New Roman"/>
              </a:rPr>
              <a:t> </a:t>
            </a:r>
            <a:r>
              <a:rPr lang="en-US" dirty="0" err="1">
                <a:latin typeface="Aptos"/>
                <a:cs typeface="Times New Roman"/>
              </a:rPr>
              <a:t>формат</a:t>
            </a:r>
            <a:r>
              <a:rPr lang="en-US" dirty="0">
                <a:latin typeface="Aptos"/>
                <a:cs typeface="Times New Roman"/>
              </a:rPr>
              <a:t>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b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41318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987719-EAAE-330E-A30F-8F3D11211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06E809-F8DF-255E-2A16-926B1322E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9F2778-BA74-EDAC-8B6B-76F750F7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6B6DDB3F-948A-D233-4981-67BC1FE03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4066" y="1978104"/>
            <a:ext cx="9787246" cy="228911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ru-RU" b="1" dirty="0">
                <a:solidFill>
                  <a:srgbClr val="333333"/>
                </a:solidFill>
                <a:ea typeface="+mn-lt"/>
                <a:cs typeface="+mn-lt"/>
              </a:rPr>
              <a:t>C#</a:t>
            </a:r>
            <a:r>
              <a:rPr lang="ru-RU" dirty="0">
                <a:solidFill>
                  <a:srgbClr val="333333"/>
                </a:solidFill>
                <a:ea typeface="+mn-lt"/>
                <a:cs typeface="+mn-lt"/>
              </a:rPr>
              <a:t> — язык программирования, который часто используют для написания скриптов в </a:t>
            </a:r>
            <a:r>
              <a:rPr lang="ru-RU" dirty="0" err="1">
                <a:solidFill>
                  <a:srgbClr val="333333"/>
                </a:solidFill>
                <a:ea typeface="+mn-lt"/>
                <a:cs typeface="+mn-lt"/>
              </a:rPr>
              <a:t>Unity</a:t>
            </a:r>
            <a:r>
              <a:rPr lang="ru-RU" dirty="0">
                <a:solidFill>
                  <a:srgbClr val="333333"/>
                </a:solidFill>
                <a:ea typeface="+mn-lt"/>
                <a:cs typeface="+mn-lt"/>
              </a:rPr>
              <a:t>. Многие функции и инструменты движка прописаны именно на этом языке. </a:t>
            </a:r>
            <a:endParaRPr lang="ru-RU" dirty="0"/>
          </a:p>
          <a:p>
            <a:pPr algn="l"/>
            <a:r>
              <a:rPr lang="ru-RU" dirty="0">
                <a:solidFill>
                  <a:srgbClr val="333333"/>
                </a:solidFill>
                <a:ea typeface="+mn-lt"/>
                <a:cs typeface="+mn-lt"/>
              </a:rPr>
              <a:t>Сочетание </a:t>
            </a:r>
            <a:r>
              <a:rPr lang="ru-RU" err="1">
                <a:solidFill>
                  <a:srgbClr val="333333"/>
                </a:solidFill>
                <a:ea typeface="+mn-lt"/>
                <a:cs typeface="+mn-lt"/>
              </a:rPr>
              <a:t>Unity</a:t>
            </a:r>
            <a:r>
              <a:rPr lang="ru-RU" dirty="0">
                <a:solidFill>
                  <a:srgbClr val="333333"/>
                </a:solidFill>
                <a:ea typeface="+mn-lt"/>
                <a:cs typeface="+mn-lt"/>
              </a:rPr>
              <a:t> и C# обеспечивает хорошую среду для разработки игр. Однако одного знания инструментов недостаточно, чтобы упростить сложный процесс проектирования и программирования настоящей игры. Необходимые навыки можно получить только на практике и с помощью реальных примеров. </a:t>
            </a:r>
            <a:endParaRPr lang="ru-RU" dirty="0"/>
          </a:p>
          <a:p>
            <a:pPr algn="l"/>
            <a:endParaRPr lang="ru-RU" sz="1300">
              <a:highlight>
                <a:srgbClr val="FFFFFF"/>
              </a:highlight>
              <a:ea typeface="+mn-lt"/>
              <a:cs typeface="+mn-lt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9ED9966D-9D32-40E6-8553-7AD555EC51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4066" y="-476589"/>
            <a:ext cx="9144000" cy="1688060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  <a:latin typeface="Comic Sans MS"/>
              </a:rPr>
              <a:t>Язык </a:t>
            </a:r>
            <a:r>
              <a:rPr lang="ru-RU" dirty="0" err="1">
                <a:solidFill>
                  <a:schemeClr val="bg1"/>
                </a:solidFill>
                <a:latin typeface="Comic Sans MS"/>
              </a:rPr>
              <a:t>програмирования</a:t>
            </a:r>
            <a:r>
              <a:rPr lang="ru-RU" dirty="0">
                <a:solidFill>
                  <a:schemeClr val="bg1"/>
                </a:solidFill>
                <a:latin typeface="Comic Sans MS"/>
              </a:rPr>
              <a:t> С#</a:t>
            </a:r>
          </a:p>
        </p:txBody>
      </p:sp>
      <p:pic>
        <p:nvPicPr>
          <p:cNvPr id="3" name="Рисунок 2" descr="Архивы C# | ИТ Блог. Администрирование серверов на основе Linux (Ubuntu,  Debian, CentOS, openSUSE)">
            <a:extLst>
              <a:ext uri="{FF2B5EF4-FFF2-40B4-BE49-F238E27FC236}">
                <a16:creationId xmlns:a16="http://schemas.microsoft.com/office/drawing/2014/main" id="{AA2AAF00-F6D8-99DE-F8F7-DC69EAC23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8692" y="4567790"/>
            <a:ext cx="1906250" cy="209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661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7A45E4-91C6-7951-1C3E-873EF15F5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2A785343-5D24-4118-A2E4-665D196F6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Рисунок 14" descr="Изображение выглядит как на открытом воздухе, небо, одежда, дере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D17C640-412C-6EA9-092A-F91CAE8F80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236" b="-3"/>
          <a:stretch>
            <a:fillRect/>
          </a:stretch>
        </p:blipFill>
        <p:spPr>
          <a:xfrm>
            <a:off x="2" y="-6235"/>
            <a:ext cx="3255403" cy="2505456"/>
          </a:xfrm>
          <a:custGeom>
            <a:avLst/>
            <a:gdLst/>
            <a:ahLst/>
            <a:cxnLst/>
            <a:rect l="l" t="t" r="r" b="b"/>
            <a:pathLst>
              <a:path w="3255403" h="2505456">
                <a:moveTo>
                  <a:pt x="0" y="0"/>
                </a:moveTo>
                <a:lnTo>
                  <a:pt x="3255403" y="0"/>
                </a:lnTo>
                <a:lnTo>
                  <a:pt x="2094477" y="2505456"/>
                </a:lnTo>
                <a:lnTo>
                  <a:pt x="0" y="2505456"/>
                </a:lnTo>
                <a:close/>
              </a:path>
            </a:pathLst>
          </a:custGeom>
        </p:spPr>
      </p:pic>
      <p:pic>
        <p:nvPicPr>
          <p:cNvPr id="8" name="Рисунок 7" descr="Изображение выглядит как текст, снимок экрана, 3D-моделирование, Цифровая сбор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1A80885-A4EE-CEF4-9CB7-1AD1517216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" b="4999"/>
          <a:stretch>
            <a:fillRect/>
          </a:stretch>
        </p:blipFill>
        <p:spPr>
          <a:xfrm>
            <a:off x="7381876" y="10"/>
            <a:ext cx="4810125" cy="2501827"/>
          </a:xfrm>
          <a:custGeom>
            <a:avLst/>
            <a:gdLst/>
            <a:ahLst/>
            <a:cxnLst/>
            <a:rect l="l" t="t" r="r" b="b"/>
            <a:pathLst>
              <a:path w="4810125" h="2501837">
                <a:moveTo>
                  <a:pt x="1159248" y="0"/>
                </a:moveTo>
                <a:lnTo>
                  <a:pt x="4810125" y="0"/>
                </a:lnTo>
                <a:lnTo>
                  <a:pt x="4810125" y="2501837"/>
                </a:lnTo>
                <a:lnTo>
                  <a:pt x="0" y="2501837"/>
                </a:lnTo>
                <a:close/>
              </a:path>
            </a:pathLst>
          </a:custGeom>
        </p:spPr>
      </p:pic>
      <p:pic>
        <p:nvPicPr>
          <p:cNvPr id="6" name="Рисунок 5" descr="Изображение выглядит как снимок экрана, Программное обеспечение для видеоигр, Компьютерная игра, пиксел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0A9ED6C-A8F6-951D-C2DE-E8224348EF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102" r="1694" b="-1"/>
          <a:stretch>
            <a:fillRect/>
          </a:stretch>
        </p:blipFill>
        <p:spPr>
          <a:xfrm>
            <a:off x="4675537" y="-6235"/>
            <a:ext cx="3677817" cy="2505456"/>
          </a:xfrm>
          <a:custGeom>
            <a:avLst/>
            <a:gdLst/>
            <a:ahLst/>
            <a:cxnLst/>
            <a:rect l="l" t="t" r="r" b="b"/>
            <a:pathLst>
              <a:path w="3677817" h="2505456">
                <a:moveTo>
                  <a:pt x="1160926" y="0"/>
                </a:moveTo>
                <a:lnTo>
                  <a:pt x="3677817" y="0"/>
                </a:lnTo>
                <a:lnTo>
                  <a:pt x="2516891" y="2505456"/>
                </a:lnTo>
                <a:lnTo>
                  <a:pt x="0" y="2505456"/>
                </a:lnTo>
                <a:close/>
              </a:path>
            </a:pathLst>
          </a:custGeom>
        </p:spPr>
      </p:pic>
      <p:pic>
        <p:nvPicPr>
          <p:cNvPr id="5" name="Рисунок 4" descr="Изображение выглядит как текст, фантастика, аниме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2F5F9C6-3757-D0DF-2008-53C8427D7D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9" r="10193"/>
          <a:stretch>
            <a:fillRect/>
          </a:stretch>
        </p:blipFill>
        <p:spPr>
          <a:xfrm>
            <a:off x="5313465" y="2660089"/>
            <a:ext cx="6877465" cy="4197827"/>
          </a:xfrm>
          <a:custGeom>
            <a:avLst/>
            <a:gdLst/>
            <a:ahLst/>
            <a:cxnLst/>
            <a:rect l="l" t="t" r="r" b="b"/>
            <a:pathLst>
              <a:path w="6838950" h="4197911">
                <a:moveTo>
                  <a:pt x="1945141" y="0"/>
                </a:moveTo>
                <a:lnTo>
                  <a:pt x="1951364" y="0"/>
                </a:lnTo>
                <a:lnTo>
                  <a:pt x="3141155" y="0"/>
                </a:lnTo>
                <a:lnTo>
                  <a:pt x="4791200" y="0"/>
                </a:lnTo>
                <a:lnTo>
                  <a:pt x="6838950" y="0"/>
                </a:lnTo>
                <a:lnTo>
                  <a:pt x="6838950" y="4197911"/>
                </a:lnTo>
                <a:lnTo>
                  <a:pt x="0" y="4197911"/>
                </a:lnTo>
                <a:close/>
              </a:path>
            </a:pathLst>
          </a:custGeom>
        </p:spPr>
      </p:pic>
      <p:sp>
        <p:nvSpPr>
          <p:cNvPr id="81" name="Freeform 11">
            <a:extLst>
              <a:ext uri="{FF2B5EF4-FFF2-40B4-BE49-F238E27FC236}">
                <a16:creationId xmlns:a16="http://schemas.microsoft.com/office/drawing/2014/main" id="{32F4D216-10B7-4DCA-A0A1-068E9E32F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2660091"/>
            <a:ext cx="7122523" cy="4197911"/>
          </a:xfrm>
          <a:custGeom>
            <a:avLst/>
            <a:gdLst>
              <a:gd name="connsiteX0" fmla="*/ 0 w 7122523"/>
              <a:gd name="connsiteY0" fmla="*/ 4197911 h 4197911"/>
              <a:gd name="connsiteX1" fmla="*/ 7122523 w 7122523"/>
              <a:gd name="connsiteY1" fmla="*/ 4197911 h 4197911"/>
              <a:gd name="connsiteX2" fmla="*/ 5177382 w 7122523"/>
              <a:gd name="connsiteY2" fmla="*/ 0 h 4197911"/>
              <a:gd name="connsiteX3" fmla="*/ 5171159 w 7122523"/>
              <a:gd name="connsiteY3" fmla="*/ 0 h 4197911"/>
              <a:gd name="connsiteX4" fmla="*/ 3981368 w 7122523"/>
              <a:gd name="connsiteY4" fmla="*/ 0 h 4197911"/>
              <a:gd name="connsiteX5" fmla="*/ 2331323 w 7122523"/>
              <a:gd name="connsiteY5" fmla="*/ 0 h 4197911"/>
              <a:gd name="connsiteX6" fmla="*/ 0 w 7122523"/>
              <a:gd name="connsiteY6" fmla="*/ 0 h 419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22523" h="4197911">
                <a:moveTo>
                  <a:pt x="0" y="4197911"/>
                </a:moveTo>
                <a:lnTo>
                  <a:pt x="7122523" y="4197911"/>
                </a:lnTo>
                <a:lnTo>
                  <a:pt x="5177382" y="0"/>
                </a:lnTo>
                <a:lnTo>
                  <a:pt x="5171159" y="0"/>
                </a:lnTo>
                <a:lnTo>
                  <a:pt x="3981368" y="0"/>
                </a:lnTo>
                <a:lnTo>
                  <a:pt x="2331323" y="0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F65729-F68A-92F1-209D-72B964AF9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1949" y="2835714"/>
            <a:ext cx="6704328" cy="85298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en-US" sz="4800" dirty="0" err="1">
                <a:latin typeface="Times New Roman"/>
                <a:cs typeface="Times New Roman"/>
              </a:rPr>
              <a:t>Вы</a:t>
            </a:r>
            <a:r>
              <a:rPr lang="en-US" sz="4800" dirty="0">
                <a:latin typeface="Times New Roman"/>
                <a:cs typeface="Times New Roman"/>
              </a:rPr>
              <a:t> </a:t>
            </a:r>
            <a:r>
              <a:rPr lang="en-US" sz="4800" dirty="0" err="1">
                <a:latin typeface="Times New Roman"/>
                <a:cs typeface="Times New Roman"/>
              </a:rPr>
              <a:t>научитесь</a:t>
            </a:r>
            <a:r>
              <a:rPr lang="en-US" sz="4800" dirty="0">
                <a:latin typeface="Times New Roman"/>
                <a:cs typeface="Times New Roman"/>
              </a:rPr>
              <a:t>:</a:t>
            </a:r>
          </a:p>
        </p:txBody>
      </p:sp>
      <p:pic>
        <p:nvPicPr>
          <p:cNvPr id="7" name="Рисунок 6" descr="Изображение выглядит как снимок экрана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8FE2A7C-EECB-8EFE-83D3-84DCC007145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150" r="15910" b="-3"/>
          <a:stretch>
            <a:fillRect/>
          </a:stretch>
        </p:blipFill>
        <p:spPr>
          <a:xfrm>
            <a:off x="2256009" y="10"/>
            <a:ext cx="3393943" cy="2502833"/>
          </a:xfrm>
          <a:custGeom>
            <a:avLst/>
            <a:gdLst/>
            <a:ahLst/>
            <a:cxnLst/>
            <a:rect l="l" t="t" r="r" b="b"/>
            <a:pathLst>
              <a:path w="3393943" h="2502843">
                <a:moveTo>
                  <a:pt x="1159715" y="0"/>
                </a:moveTo>
                <a:lnTo>
                  <a:pt x="3393943" y="0"/>
                </a:lnTo>
                <a:lnTo>
                  <a:pt x="2234228" y="2502843"/>
                </a:lnTo>
                <a:lnTo>
                  <a:pt x="0" y="2502843"/>
                </a:ln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5EDBD8-3207-3D48-CB4E-71F228489D41}"/>
              </a:ext>
            </a:extLst>
          </p:cNvPr>
          <p:cNvSpPr txBox="1"/>
          <p:nvPr/>
        </p:nvSpPr>
        <p:spPr>
          <a:xfrm>
            <a:off x="212241" y="3863584"/>
            <a:ext cx="4746863" cy="213036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aseline="0" err="1">
                <a:solidFill>
                  <a:srgbClr val="FFFFFF"/>
                </a:solidFill>
                <a:latin typeface="Times New Roman"/>
                <a:cs typeface="Times New Roman"/>
              </a:rPr>
              <a:t>Собирать</a:t>
            </a:r>
            <a:r>
              <a:rPr lang="en-US" sz="2400" baseline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400" baseline="0" err="1">
                <a:solidFill>
                  <a:srgbClr val="FFFFFF"/>
                </a:solidFill>
                <a:latin typeface="Times New Roman"/>
                <a:cs typeface="Times New Roman"/>
              </a:rPr>
              <a:t>рабочий</a:t>
            </a:r>
            <a:r>
              <a:rPr lang="en-US" sz="2400" baseline="0" dirty="0">
                <a:solidFill>
                  <a:srgbClr val="FFFFFF"/>
                </a:solidFill>
                <a:latin typeface="Times New Roman"/>
                <a:cs typeface="Times New Roman"/>
              </a:rPr>
              <a:t> </a:t>
            </a:r>
            <a:r>
              <a:rPr lang="en-US" sz="2400" baseline="0" err="1">
                <a:solidFill>
                  <a:srgbClr val="FFFFFF"/>
                </a:solidFill>
                <a:latin typeface="Times New Roman"/>
                <a:cs typeface="Times New Roman"/>
              </a:rPr>
              <a:t>прототип</a:t>
            </a:r>
            <a:r>
              <a:rPr lang="en-US" sz="2400" baseline="0" dirty="0">
                <a:solidFill>
                  <a:srgbClr val="FFFFFF"/>
                </a:solidFill>
                <a:latin typeface="Times New Roman"/>
                <a:cs typeface="Times New Roman"/>
              </a:rPr>
              <a:t> в Unity с </a:t>
            </a:r>
            <a:r>
              <a:rPr lang="en-US" sz="2400" baseline="0" err="1">
                <a:solidFill>
                  <a:srgbClr val="FFFFFF"/>
                </a:solidFill>
                <a:latin typeface="Times New Roman"/>
                <a:cs typeface="Times New Roman"/>
              </a:rPr>
              <a:t>нуля</a:t>
            </a:r>
            <a:r>
              <a:rPr lang="en-US" sz="2400" baseline="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lang="en-US" sz="2400" dirty="0">
                <a:solidFill>
                  <a:srgbClr val="FFFFFF"/>
                </a:solidFill>
                <a:latin typeface="Times New Roman"/>
                <a:cs typeface="Times New Roman"/>
              </a:rPr>
              <a:t>​</a:t>
            </a:r>
            <a:endParaRPr lang="en-US" sz="2400"/>
          </a:p>
          <a:p>
            <a:pPr marL="2286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aseline="0" err="1">
                <a:solidFill>
                  <a:srgbClr val="FFFFFF"/>
                </a:solidFill>
                <a:latin typeface="Times New Roman"/>
                <a:cs typeface="Times New Roman"/>
              </a:rPr>
              <a:t>Внедрять</a:t>
            </a:r>
            <a:r>
              <a:rPr lang="en-US" sz="2400" baseline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400" baseline="0" err="1">
                <a:solidFill>
                  <a:srgbClr val="FFFFFF"/>
                </a:solidFill>
                <a:latin typeface="Times New Roman"/>
                <a:cs typeface="Times New Roman"/>
              </a:rPr>
              <a:t>игровые</a:t>
            </a:r>
            <a:r>
              <a:rPr lang="en-US" sz="2400" baseline="0" dirty="0">
                <a:solidFill>
                  <a:srgbClr val="FFFFFF"/>
                </a:solidFill>
                <a:latin typeface="Times New Roman"/>
                <a:cs typeface="Times New Roman"/>
              </a:rPr>
              <a:t> </a:t>
            </a:r>
            <a:r>
              <a:rPr lang="en-US" sz="2400" baseline="0" err="1">
                <a:solidFill>
                  <a:srgbClr val="FFFFFF"/>
                </a:solidFill>
                <a:latin typeface="Times New Roman"/>
                <a:cs typeface="Times New Roman"/>
              </a:rPr>
              <a:t>механики</a:t>
            </a:r>
            <a:r>
              <a:rPr lang="en-US" sz="2400" baseline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400" baseline="0" err="1">
                <a:solidFill>
                  <a:srgbClr val="FFFFFF"/>
                </a:solidFill>
                <a:latin typeface="Times New Roman"/>
                <a:cs typeface="Times New Roman"/>
              </a:rPr>
              <a:t>шаг</a:t>
            </a:r>
            <a:r>
              <a:rPr lang="en-US" sz="2400" baseline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400" baseline="0" err="1">
                <a:solidFill>
                  <a:srgbClr val="FFFFFF"/>
                </a:solidFill>
                <a:latin typeface="Times New Roman"/>
                <a:cs typeface="Times New Roman"/>
              </a:rPr>
              <a:t>за</a:t>
            </a:r>
            <a:r>
              <a:rPr lang="en-US" sz="2400" baseline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400" baseline="0" err="1">
                <a:solidFill>
                  <a:srgbClr val="FFFFFF"/>
                </a:solidFill>
                <a:latin typeface="Times New Roman"/>
                <a:cs typeface="Times New Roman"/>
              </a:rPr>
              <a:t>шагом</a:t>
            </a:r>
            <a:r>
              <a:rPr lang="en-US" sz="2400" baseline="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lang="en-US" sz="2400" dirty="0">
                <a:solidFill>
                  <a:srgbClr val="FFFFFF"/>
                </a:solidFill>
                <a:latin typeface="Times New Roman"/>
                <a:cs typeface="Times New Roman"/>
              </a:rPr>
              <a:t>​</a:t>
            </a:r>
          </a:p>
          <a:p>
            <a:pPr marL="2286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aseline="0" err="1">
                <a:solidFill>
                  <a:srgbClr val="FFFFFF"/>
                </a:solidFill>
                <a:latin typeface="Times New Roman"/>
                <a:cs typeface="Times New Roman"/>
              </a:rPr>
              <a:t>Тестировать</a:t>
            </a:r>
            <a:r>
              <a:rPr lang="en-US" sz="2400" baseline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400" baseline="0" err="1">
                <a:solidFill>
                  <a:srgbClr val="FFFFFF"/>
                </a:solidFill>
                <a:latin typeface="Times New Roman"/>
                <a:cs typeface="Times New Roman"/>
              </a:rPr>
              <a:t>игру</a:t>
            </a:r>
            <a:r>
              <a:rPr lang="en-US" sz="2400" baseline="0" dirty="0">
                <a:solidFill>
                  <a:srgbClr val="FFFFFF"/>
                </a:solidFill>
                <a:latin typeface="Times New Roman"/>
                <a:cs typeface="Times New Roman"/>
              </a:rPr>
              <a:t> </a:t>
            </a:r>
            <a:r>
              <a:rPr lang="en-US" sz="2400" baseline="0" err="1">
                <a:solidFill>
                  <a:srgbClr val="FFFFFF"/>
                </a:solidFill>
                <a:latin typeface="Times New Roman"/>
                <a:cs typeface="Times New Roman"/>
              </a:rPr>
              <a:t>на</a:t>
            </a:r>
            <a:r>
              <a:rPr lang="en-US" sz="2400" baseline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400" baseline="0" err="1">
                <a:solidFill>
                  <a:srgbClr val="FFFFFF"/>
                </a:solidFill>
                <a:latin typeface="Times New Roman"/>
                <a:cs typeface="Times New Roman"/>
              </a:rPr>
              <a:t>ранних</a:t>
            </a:r>
            <a:r>
              <a:rPr lang="en-US" sz="2400" baseline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400" baseline="0" err="1">
                <a:solidFill>
                  <a:srgbClr val="FFFFFF"/>
                </a:solidFill>
                <a:latin typeface="Times New Roman"/>
                <a:cs typeface="Times New Roman"/>
              </a:rPr>
              <a:t>этапах</a:t>
            </a:r>
            <a:r>
              <a:rPr lang="en-US" sz="2400" baseline="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lang="en-US" sz="2400" dirty="0">
                <a:solidFill>
                  <a:srgbClr val="FFFFFF"/>
                </a:solidFill>
                <a:latin typeface="Times New Roman"/>
                <a:cs typeface="Times New Roman"/>
              </a:rPr>
              <a:t>​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Times New Roman"/>
                <a:cs typeface="Times New Roman"/>
              </a:rPr>
              <a:t>Доводить </a:t>
            </a:r>
            <a:r>
              <a:rPr lang="en-US" sz="2400" dirty="0" err="1">
                <a:solidFill>
                  <a:srgbClr val="FFFFFF"/>
                </a:solidFill>
                <a:latin typeface="Times New Roman"/>
                <a:cs typeface="Times New Roman"/>
              </a:rPr>
              <a:t>игры</a:t>
            </a:r>
            <a:r>
              <a:rPr lang="en-US" sz="2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/>
                <a:cs typeface="Times New Roman"/>
              </a:rPr>
              <a:t>до</a:t>
            </a:r>
            <a:r>
              <a:rPr lang="en-US" sz="2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/>
                <a:cs typeface="Times New Roman"/>
              </a:rPr>
              <a:t>конца</a:t>
            </a:r>
            <a:r>
              <a:rPr lang="en-US" sz="2400" dirty="0">
                <a:solidFill>
                  <a:srgbClr val="FFFFFF"/>
                </a:solidFill>
                <a:latin typeface="Times New Roman"/>
                <a:cs typeface="Times New Roman"/>
              </a:rPr>
              <a:t>. 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800">
              <a:solidFill>
                <a:srgbClr val="FFFFFF"/>
              </a:solidFill>
              <a:latin typeface="Aptos" panose="020B0004020202020204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53170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Презентация PowerPoint</vt:lpstr>
      <vt:lpstr>Что такое Unity?</vt:lpstr>
      <vt:lpstr>Что мы делаем?</vt:lpstr>
      <vt:lpstr>Язык програмирования С#</vt:lpstr>
      <vt:lpstr>Вы научитесь: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391</cp:revision>
  <dcterms:created xsi:type="dcterms:W3CDTF">2012-07-30T23:42:41Z</dcterms:created>
  <dcterms:modified xsi:type="dcterms:W3CDTF">2026-02-21T01:23:46Z</dcterms:modified>
</cp:coreProperties>
</file>